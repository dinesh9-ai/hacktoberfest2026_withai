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84" r:id="rId5"/>
    <p:sldId id="319" r:id="rId6"/>
    <p:sldId id="32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121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6C736-E0E3-46FD-B134-35919E9760D5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Predicted that machines would have 30% chance of passing 5-minute test by the year 2000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72822-39EC-4284-92EC-8BB2119733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AB8D2-93D8-4CF6-A28F-00957D37D9F3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A62EE-3E93-421D-9B80-91C2D6F9EF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CptS</a:t>
            </a:r>
            <a:r>
              <a:rPr lang="en-US" dirty="0"/>
              <a:t> 440 / 540</a:t>
            </a:r>
            <a:br>
              <a:rPr lang="en-US" dirty="0"/>
            </a:br>
            <a:r>
              <a:rPr lang="en-US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5029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Search permeates all of AI</a:t>
            </a:r>
          </a:p>
          <a:p>
            <a:r>
              <a:rPr lang="en-US" dirty="0"/>
              <a:t>What choices are we searching through?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Problem solving</a:t>
            </a:r>
            <a:br>
              <a:rPr lang="en-US" dirty="0"/>
            </a:br>
            <a:r>
              <a:rPr lang="en-US" dirty="0"/>
              <a:t>Action combinations (move 1, then move 3, then move 2...) 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Natural language </a:t>
            </a:r>
            <a:br>
              <a:rPr lang="en-US" dirty="0"/>
            </a:br>
            <a:r>
              <a:rPr lang="en-US" dirty="0"/>
              <a:t>Ways to map words to parts of speech 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Computer vision </a:t>
            </a:r>
            <a:br>
              <a:rPr lang="en-US" dirty="0"/>
            </a:br>
            <a:r>
              <a:rPr lang="en-US" dirty="0"/>
              <a:t>Ways to map features to object model 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Machine learning </a:t>
            </a:r>
            <a:br>
              <a:rPr lang="en-US" dirty="0"/>
            </a:br>
            <a:r>
              <a:rPr lang="en-US" dirty="0"/>
              <a:t>Possible concepts that fit examples seen so far 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Motion planning </a:t>
            </a:r>
            <a:br>
              <a:rPr lang="en-US" dirty="0"/>
            </a:br>
            <a:r>
              <a:rPr lang="en-US" dirty="0"/>
              <a:t>Sequence of moves to reach goal destination</a:t>
            </a:r>
          </a:p>
          <a:p>
            <a:r>
              <a:rPr lang="en-US" dirty="0"/>
              <a:t>An intelligent agent is trying to find a set or sequence of actions to achieve a goal</a:t>
            </a:r>
          </a:p>
          <a:p>
            <a:r>
              <a:rPr lang="en-US" dirty="0"/>
              <a:t>This is a </a:t>
            </a:r>
            <a:r>
              <a:rPr lang="en-US" dirty="0">
                <a:solidFill>
                  <a:srgbClr val="FF0000"/>
                </a:solidFill>
              </a:rPr>
              <a:t>goal-based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Problem-solving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2200" y="2057400"/>
            <a:ext cx="3932936" cy="25853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SimpleProblemSolvingAgent</a:t>
            </a:r>
            <a:r>
              <a:rPr lang="en-US" dirty="0"/>
              <a:t>(percept)</a:t>
            </a:r>
          </a:p>
          <a:p>
            <a:r>
              <a:rPr lang="en-US" dirty="0"/>
              <a:t>   state = </a:t>
            </a:r>
            <a:r>
              <a:rPr lang="en-US" dirty="0" err="1"/>
              <a:t>UpdateState</a:t>
            </a:r>
            <a:r>
              <a:rPr lang="en-US" dirty="0"/>
              <a:t>(state, percept)</a:t>
            </a:r>
          </a:p>
          <a:p>
            <a:r>
              <a:rPr lang="en-US" dirty="0"/>
              <a:t>   if sequence is empty then</a:t>
            </a:r>
          </a:p>
          <a:p>
            <a:r>
              <a:rPr lang="en-US" dirty="0"/>
              <a:t>   goal = </a:t>
            </a:r>
            <a:r>
              <a:rPr lang="en-US" dirty="0" err="1"/>
              <a:t>FormulateGoal</a:t>
            </a:r>
            <a:r>
              <a:rPr lang="en-US" dirty="0"/>
              <a:t>(state)</a:t>
            </a:r>
          </a:p>
          <a:p>
            <a:r>
              <a:rPr lang="en-US" dirty="0"/>
              <a:t>   problem = </a:t>
            </a:r>
            <a:r>
              <a:rPr lang="en-US" dirty="0" err="1"/>
              <a:t>FormulateProblem</a:t>
            </a:r>
            <a:r>
              <a:rPr lang="en-US" dirty="0"/>
              <a:t>(state, g)</a:t>
            </a:r>
          </a:p>
          <a:p>
            <a:r>
              <a:rPr lang="en-US" dirty="0"/>
              <a:t>   sequence = Search(problem)</a:t>
            </a:r>
          </a:p>
          <a:p>
            <a:r>
              <a:rPr lang="en-US" dirty="0"/>
              <a:t>   action = First(sequence)</a:t>
            </a:r>
          </a:p>
          <a:p>
            <a:r>
              <a:rPr lang="en-US" dirty="0"/>
              <a:t>   sequence = Rest(sequence)</a:t>
            </a:r>
          </a:p>
          <a:p>
            <a:r>
              <a:rPr lang="en-US" dirty="0"/>
              <a:t>   Return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Search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676400"/>
            <a:ext cx="2971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Formulate goal: </a:t>
            </a:r>
            <a:r>
              <a:rPr lang="en-US" dirty="0"/>
              <a:t>Be in Bucharest.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Formulate problem: </a:t>
            </a:r>
            <a:r>
              <a:rPr lang="en-US" dirty="0"/>
              <a:t>states are cities, operators drive between pairs of cities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/>
                </a:solidFill>
              </a:rPr>
              <a:t>Find solution:  </a:t>
            </a:r>
            <a:r>
              <a:rPr lang="en-US" dirty="0"/>
              <a:t>Find a sequence of cities (e.g., Arad, Sibiu, </a:t>
            </a:r>
            <a:r>
              <a:rPr lang="en-US" dirty="0" err="1"/>
              <a:t>Fagaras</a:t>
            </a:r>
            <a:r>
              <a:rPr lang="en-US" dirty="0"/>
              <a:t>, Bucharest) that leads from the current state to a state meeting the goal condition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1712119"/>
            <a:ext cx="6161383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Search Space Definitions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State</a:t>
            </a:r>
          </a:p>
          <a:p>
            <a:pPr lvl="1"/>
            <a:r>
              <a:rPr lang="en-US" dirty="0"/>
              <a:t>A description of a possible state of the world</a:t>
            </a:r>
          </a:p>
          <a:p>
            <a:pPr lvl="1"/>
            <a:r>
              <a:rPr lang="en-US" dirty="0"/>
              <a:t>Includes all features of the world that are pertinent to the problem</a:t>
            </a:r>
          </a:p>
          <a:p>
            <a:r>
              <a:rPr lang="en-US" dirty="0">
                <a:solidFill>
                  <a:schemeClr val="accent5"/>
                </a:solidFill>
              </a:rPr>
              <a:t>Initial state</a:t>
            </a:r>
          </a:p>
          <a:p>
            <a:pPr lvl="1"/>
            <a:r>
              <a:rPr lang="en-US" dirty="0"/>
              <a:t>Description of all pertinent aspects of the state in which the agent starts the search</a:t>
            </a:r>
          </a:p>
          <a:p>
            <a:r>
              <a:rPr lang="en-US" dirty="0">
                <a:solidFill>
                  <a:schemeClr val="accent5"/>
                </a:solidFill>
              </a:rPr>
              <a:t>Goal test</a:t>
            </a:r>
          </a:p>
          <a:p>
            <a:pPr lvl="1"/>
            <a:r>
              <a:rPr lang="en-US" dirty="0"/>
              <a:t>Conditions the agent is trying to meet (e.g., have $1M)</a:t>
            </a:r>
          </a:p>
          <a:p>
            <a:r>
              <a:rPr lang="en-US" dirty="0">
                <a:solidFill>
                  <a:schemeClr val="accent5"/>
                </a:solidFill>
              </a:rPr>
              <a:t>Goal state</a:t>
            </a:r>
          </a:p>
          <a:p>
            <a:pPr lvl="1"/>
            <a:r>
              <a:rPr lang="en-US" dirty="0"/>
              <a:t>Any state which meets the goal condition</a:t>
            </a:r>
          </a:p>
          <a:p>
            <a:pPr lvl="1"/>
            <a:r>
              <a:rPr lang="en-US" dirty="0"/>
              <a:t>Thursday, have $1M, live in NYC</a:t>
            </a:r>
          </a:p>
          <a:p>
            <a:pPr lvl="1"/>
            <a:r>
              <a:rPr lang="en-US" dirty="0"/>
              <a:t>Friday, have $1M, live in Valparaiso</a:t>
            </a:r>
          </a:p>
          <a:p>
            <a:r>
              <a:rPr lang="en-US" dirty="0">
                <a:solidFill>
                  <a:schemeClr val="accent5"/>
                </a:solidFill>
              </a:rPr>
              <a:t>Action</a:t>
            </a:r>
          </a:p>
          <a:p>
            <a:pPr lvl="1"/>
            <a:r>
              <a:rPr lang="en-US" dirty="0"/>
              <a:t>Function that maps (transitions) from one state to another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Search Space Definitions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Problem formulation</a:t>
            </a:r>
          </a:p>
          <a:p>
            <a:pPr lvl="1"/>
            <a:r>
              <a:rPr lang="en-US" dirty="0"/>
              <a:t>Describe a general problem as a search problem</a:t>
            </a:r>
          </a:p>
          <a:p>
            <a:r>
              <a:rPr lang="en-US" dirty="0">
                <a:solidFill>
                  <a:schemeClr val="accent5"/>
                </a:solidFill>
              </a:rPr>
              <a:t>Solution</a:t>
            </a:r>
          </a:p>
          <a:p>
            <a:pPr lvl="1"/>
            <a:r>
              <a:rPr lang="en-US" dirty="0"/>
              <a:t>Sequence of actions that transitions the world from the initial state to a goal state</a:t>
            </a:r>
          </a:p>
          <a:p>
            <a:r>
              <a:rPr lang="en-US" dirty="0">
                <a:solidFill>
                  <a:schemeClr val="accent5"/>
                </a:solidFill>
              </a:rPr>
              <a:t>Solution cost (additive)</a:t>
            </a:r>
          </a:p>
          <a:p>
            <a:pPr lvl="1"/>
            <a:r>
              <a:rPr lang="en-US" dirty="0"/>
              <a:t>Sum of the cost of operators</a:t>
            </a:r>
          </a:p>
          <a:p>
            <a:pPr lvl="1"/>
            <a:r>
              <a:rPr lang="en-US" dirty="0"/>
              <a:t>Alternative:  sum of distances, number of steps, etc.</a:t>
            </a:r>
          </a:p>
          <a:p>
            <a:r>
              <a:rPr lang="en-US" dirty="0">
                <a:solidFill>
                  <a:schemeClr val="accent5"/>
                </a:solidFill>
              </a:rPr>
              <a:t>Search</a:t>
            </a:r>
          </a:p>
          <a:p>
            <a:pPr lvl="1"/>
            <a:r>
              <a:rPr lang="en-US" dirty="0"/>
              <a:t>Process of looking for a solution</a:t>
            </a:r>
          </a:p>
          <a:p>
            <a:pPr lvl="1"/>
            <a:r>
              <a:rPr lang="en-US" dirty="0"/>
              <a:t>Search algorithm takes problem as input and returns solution</a:t>
            </a:r>
          </a:p>
          <a:p>
            <a:pPr lvl="1"/>
            <a:r>
              <a:rPr lang="en-US" dirty="0"/>
              <a:t>We are searching through a space of possible states</a:t>
            </a:r>
          </a:p>
          <a:p>
            <a:r>
              <a:rPr lang="en-US" dirty="0">
                <a:solidFill>
                  <a:schemeClr val="accent5"/>
                </a:solidFill>
              </a:rPr>
              <a:t>Execution</a:t>
            </a:r>
          </a:p>
          <a:p>
            <a:pPr lvl="1"/>
            <a:r>
              <a:rPr lang="en-US" dirty="0"/>
              <a:t>Process of executing sequence of actions (solution)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405</Words>
  <Application>Microsoft Office PowerPoint</Application>
  <PresentationFormat>On-screen Show 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CptS 440 / 540 Artificial Intelligence</vt:lpstr>
      <vt:lpstr>Search</vt:lpstr>
      <vt:lpstr>Problem-solving Agent</vt:lpstr>
      <vt:lpstr>Search Example</vt:lpstr>
      <vt:lpstr>Search Space Definitions</vt:lpstr>
      <vt:lpstr>Search Space Definitions</vt:lpstr>
    </vt:vector>
  </TitlesOfParts>
  <Company>EECS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CptS 440 / 540 Artificial Intelligence</dc:title>
  <dc:creator>EECS</dc:creator>
  <cp:lastModifiedBy>Dineshwar Doddapaneni</cp:lastModifiedBy>
  <cp:revision>116</cp:revision>
  <dcterms:created xsi:type="dcterms:W3CDTF">2009-03-31T16:17:12Z</dcterms:created>
  <dcterms:modified xsi:type="dcterms:W3CDTF">2026-10-04T18:57:05Z</dcterms:modified>
</cp:coreProperties>
</file>